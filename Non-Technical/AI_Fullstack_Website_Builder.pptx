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94704" autoAdjust="0"/>
  </p:normalViewPr>
  <p:slideViewPr>
    <p:cSldViewPr snapToGrid="0">
      <p:cViewPr varScale="1">
        <p:scale>
          <a:sx n="84" d="100"/>
          <a:sy n="84" d="100"/>
        </p:scale>
        <p:origin x="51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E2805-659C-4049-A025-C06A6733765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49EDA-2974-440D-ADAF-2A92B8658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97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8512-A82D-4984-B553-E3AF99D1D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68999-F30E-4A04-A9E0-4150E7D16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E3D1-9449-463E-8A3B-529F3DBA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2FD1-F766-425F-9821-EC0589F29DEB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9B0EB-B7D0-48C4-90B3-B37A61F5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Major Project Topic Approval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B7E62-C61F-4449-A976-BD29523C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E2AE893-BA06-4F67-8C19-46525B8E0FB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4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6242-091F-449C-A1B4-938978D8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17"/>
            <a:ext cx="10515600" cy="1092213"/>
          </a:xfrm>
        </p:spPr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6425A-A42D-4509-B515-2D51013B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30"/>
            <a:ext cx="10515600" cy="4948233"/>
          </a:xfrm>
        </p:spPr>
        <p:txBody>
          <a:bodyPr>
            <a:normAutofit/>
          </a:bodyPr>
          <a:lstStyle>
            <a:lvl1pPr>
              <a:lnSpc>
                <a:spcPts val="2880"/>
              </a:lnSpc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ts val="2880"/>
              </a:lnSpc>
              <a:buFont typeface="Courier New" panose="02070309020205020404" pitchFamily="49" charset="0"/>
              <a:buChar char="o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ts val="2880"/>
              </a:lnSpc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ts val="288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ts val="288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BB509-4540-4E93-AA58-85E51656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6D60A-EABB-4C41-883C-12B6F7FBAF82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9B8BF-AF22-4319-9B72-B64A51A4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Major Project Topic Approval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3BF1-675C-4B4B-A122-5DB11F6C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E2AE893-BA06-4F67-8C19-46525B8E0F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37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741D-242F-4DD8-8ACF-B39E4519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F1F32-2D68-46E1-9E21-BE43A6262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ABCA9-1438-49CC-93A2-6A8DA39A3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ABDB0-375D-4475-85AC-238208E4D812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BC973-DA06-400C-9147-AEEC7894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FC47C-EAF5-4145-927D-556A6056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6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79CE-73AF-4A65-8F2A-E38D2CA0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DAF8-4366-4BEA-9041-88603E5F7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860A5-D7DD-48F2-BC15-144C7592C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0731D-2FCB-4F68-B2C7-BE66A2E2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3170-7A9A-4FD5-A8A3-00A678CE1829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3CF6C-F341-42CF-965F-3E9908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8428-2FF9-43C7-9A62-D6810EF5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66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8F11-D661-4D7C-B659-DA6176A0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02A87-0885-4B96-9AED-0B6E3BB7A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B794E-C910-4195-8A30-413CF9380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190526-A9CF-4398-B832-63B597FDF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EDD138-DEFB-40D4-9AA4-41847992B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743CA-E3D2-4835-B10C-FA5B9B9C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3592B-F37A-428B-B306-A60355475A7D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FB835-2539-4883-9787-E64CC2DA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684C8-037C-4452-ABB7-92BBDE50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17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75A5-2A7F-4DB4-9962-B5792F9E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6AE9D-EE96-4771-83A2-5BF8F5DC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1759C-CB39-40AC-A939-F713CE0FF04D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A682E-6487-4631-9316-CDE297D2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8DE16-03A0-4ED2-BA9C-5C5D47B7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51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CEFFA-2A39-4C3B-96BB-18040761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19388-6CCC-437C-A669-EC1E057D7613}" type="datetime1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0C37D-52EB-4E53-898D-1376E40A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DDA51-5956-47BC-87E2-2CF554F1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90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AA3C-A24F-471A-8267-06D5B46DF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DF64-9912-40FF-8BC6-E608B5722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F8640-04C8-4497-8A02-7AC722C0E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E400C-F2AC-417D-BA01-D9D1A9D1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68D7-8793-4703-8EC6-4F27197D7C95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344E5-F495-4E79-BBE3-05864E6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09799-0F22-4DD7-B2CB-6C8BD2A3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35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38E1-65F3-4C2C-A7D2-186FDA67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7F5D5-4B9E-4372-B1F8-AEC922FBA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87FE8-2809-4727-BBCE-02D7427C6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8AFC0-6367-47C8-8D4D-12DE9CF4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E8BA-F6D4-47B1-A246-E885CBB8283E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76D9A-206C-46FC-9239-A4C107F2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34B08-15FB-4647-B234-CEEA5998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2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8B9D-AA0C-49E7-9061-E087B211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7E5B1-7A21-473A-8B06-4C8D46A51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19D0A-ED9B-4A3F-9621-DBB81E06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655E6-197F-4931-9987-C03609A2E1A6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4C906-9F98-44BF-8341-AE01AF33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AB91-9863-46B5-9BD5-9D84B453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09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FE9C11-F275-49C9-B1C0-9668171A8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149CA-13A0-4A44-9636-65A3B017F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6154C-FC5C-484C-B5F0-860AF694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6507-04DF-4A1D-9767-9F9811871708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062DB-0F3F-4D15-A7F7-DB8CFBFB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532E6-E7FC-4A4A-A987-98523D1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08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82AD4-410A-4840-81E8-81032BA0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74687-D91C-4052-AF87-2BAD4872A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96928-B6A4-4FBB-B483-05FAACA9B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A1962-5D0E-4608-90D9-64D57B40E757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2E10B-2832-47E1-B8B8-2F3D3ABDD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Major Project Topic Approval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D8F6-E224-474F-A06A-581CB18B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74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containers.io/" TargetMode="External"/><Relationship Id="rId2" Type="http://schemas.openxmlformats.org/officeDocument/2006/relationships/hyperlink" Target="https://docs.anthropic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ercel.com/docs/rest-api" TargetMode="External"/><Relationship Id="rId4" Type="http://schemas.openxmlformats.org/officeDocument/2006/relationships/hyperlink" Target="https://neon.tech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BA7452-B1FD-4787-9AD6-8F1626538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67" y="84665"/>
            <a:ext cx="6073666" cy="115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5F8CD-2E11-44A0-9D8E-7114C74E3E7E}"/>
              </a:ext>
            </a:extLst>
          </p:cNvPr>
          <p:cNvSpPr txBox="1"/>
          <p:nvPr/>
        </p:nvSpPr>
        <p:spPr>
          <a:xfrm>
            <a:off x="2922497" y="1403680"/>
            <a:ext cx="66994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Platform for Multi-Agent Automation Builder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8E39C-376B-4992-9C7D-1A0C9D2517FC}"/>
              </a:ext>
            </a:extLst>
          </p:cNvPr>
          <p:cNvSpPr txBox="1"/>
          <p:nvPr/>
        </p:nvSpPr>
        <p:spPr>
          <a:xfrm>
            <a:off x="942975" y="2405948"/>
            <a:ext cx="109626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 Industry, Innovation, and Infrastructure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Category: Software (AI &amp; Cloud Architecture)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11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Jayraj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Dhole,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Dhairya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Dixit,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Shaunak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Anushka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Khandar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Mahesh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Pawaskar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14565-9AA2-4700-B6D8-EBDE0B33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Topic Approval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B60473-2CAB-41E8-A5B8-2FC3D587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333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&amp;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308B0-8C32-4BC4-9160-3BE586FC6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655"/>
            <a:ext cx="7086599" cy="5155553"/>
          </a:xfrm>
        </p:spPr>
        <p:txBody>
          <a:bodyPr>
            <a:normAutofit/>
          </a:bodyPr>
          <a:lstStyle/>
          <a:p>
            <a:pPr algn="just">
              <a:lnSpc>
                <a:spcPts val="2400"/>
              </a:lnSpc>
              <a:spcBef>
                <a:spcPts val="0"/>
              </a:spcBef>
            </a:pPr>
            <a:r>
              <a:rPr lang="en-US" sz="1800" b="1" dirty="0"/>
              <a:t>Problems:</a:t>
            </a:r>
          </a:p>
          <a:p>
            <a:pPr lvl="1" algn="just">
              <a:lnSpc>
                <a:spcPts val="24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1" dirty="0"/>
              <a:t>Small business owners</a:t>
            </a:r>
            <a:r>
              <a:rPr lang="en-US" sz="1800" dirty="0"/>
              <a:t> and non-technical founders lack the skills for full-stack web development.</a:t>
            </a:r>
          </a:p>
          <a:p>
            <a:pPr lvl="1" algn="just">
              <a:lnSpc>
                <a:spcPts val="24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1" dirty="0"/>
              <a:t>Traditional development</a:t>
            </a:r>
            <a:r>
              <a:rPr lang="en-US" sz="1800" dirty="0"/>
              <a:t> is prohibitively expensive and time-consuming.</a:t>
            </a:r>
          </a:p>
          <a:p>
            <a:pPr lvl="1" algn="just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800" dirty="0"/>
              <a:t>Existing AI/hosting platforms have </a:t>
            </a:r>
            <a:r>
              <a:rPr lang="en-US" sz="1800" b="1" dirty="0"/>
              <a:t>strict project limits</a:t>
            </a:r>
            <a:r>
              <a:rPr lang="en-US" sz="1800" dirty="0"/>
              <a:t> and need massive server resources to scale as a solo developer</a:t>
            </a:r>
            <a:r>
              <a:rPr lang="en-US" sz="1900" dirty="0"/>
              <a:t>.</a:t>
            </a:r>
          </a:p>
          <a:p>
            <a:pPr algn="just">
              <a:lnSpc>
                <a:spcPts val="2400"/>
              </a:lnSpc>
              <a:spcBef>
                <a:spcPts val="0"/>
              </a:spcBef>
            </a:pPr>
            <a:r>
              <a:rPr lang="en-US" sz="1800" b="1" dirty="0"/>
              <a:t>Proposed Idea:</a:t>
            </a:r>
          </a:p>
          <a:p>
            <a:pPr lvl="1" algn="just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/>
              <a:t>To enable all types of users technical or non-technical to build AI-Powered WhatsApp Chatbots, Voice Receptionists, and Full-Stack Web Applications</a:t>
            </a:r>
          </a:p>
          <a:p>
            <a:pPr algn="just">
              <a:lnSpc>
                <a:spcPts val="2400"/>
              </a:lnSpc>
              <a:spcBef>
                <a:spcPts val="0"/>
              </a:spcBef>
            </a:pPr>
            <a:r>
              <a:rPr lang="en-US" sz="1800" b="1" dirty="0"/>
              <a:t>Innovation &amp; Uniqueness:</a:t>
            </a:r>
          </a:p>
          <a:p>
            <a:pPr lvl="1" algn="just">
              <a:lnSpc>
                <a:spcPts val="2400"/>
              </a:lnSpc>
              <a:spcBef>
                <a:spcPts val="0"/>
              </a:spcBef>
            </a:pPr>
            <a:r>
              <a:rPr lang="en-US" sz="1600" dirty="0"/>
              <a:t>No such service exists yet that is fully automated.</a:t>
            </a:r>
          </a:p>
          <a:p>
            <a:pPr lvl="1" algn="just">
              <a:lnSpc>
                <a:spcPts val="2400"/>
              </a:lnSpc>
              <a:spcBef>
                <a:spcPts val="0"/>
              </a:spcBef>
            </a:pPr>
            <a:r>
              <a:rPr lang="en-US" sz="1600" dirty="0"/>
              <a:t>Easy to use.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1C4076-65F5-4E82-88C1-EA97D8E93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39" y="682623"/>
            <a:ext cx="3581321" cy="546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0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42AC-0503-45C7-BE16-CF058F59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0CD50-53DE-46EA-AAD4-69E599DB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836" y="1209774"/>
            <a:ext cx="8059836" cy="4672802"/>
          </a:xfrm>
        </p:spPr>
        <p:txBody>
          <a:bodyPr>
            <a:noAutofit/>
          </a:bodyPr>
          <a:lstStyle/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2000" b="1" dirty="0"/>
              <a:t>Technologies Used:</a:t>
            </a:r>
          </a:p>
          <a:p>
            <a:pPr lvl="1">
              <a:lnSpc>
                <a:spcPts val="19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800" b="1" dirty="0"/>
              <a:t>AI Engine:</a:t>
            </a:r>
            <a:r>
              <a:rPr lang="en-IN" sz="1800" dirty="0"/>
              <a:t> Claude 3.5 Sonnet API (or OpenAI API) via LangChain agentic framework.</a:t>
            </a:r>
          </a:p>
          <a:p>
            <a:pPr lvl="1">
              <a:lnSpc>
                <a:spcPts val="19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800" b="1" dirty="0"/>
              <a:t>Execution Environment:</a:t>
            </a:r>
            <a:r>
              <a:rPr lang="en-IN" sz="1800" dirty="0"/>
              <a:t> WebContainers — Node.js running locally in the browser.</a:t>
            </a:r>
          </a:p>
          <a:p>
            <a:pPr lvl="1">
              <a:lnSpc>
                <a:spcPts val="19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800" b="1" dirty="0"/>
              <a:t>Database:</a:t>
            </a:r>
            <a:r>
              <a:rPr lang="en-IN" sz="1800" dirty="0"/>
              <a:t> PostgreSQL, provisioned programmatically via API.</a:t>
            </a:r>
          </a:p>
          <a:p>
            <a:pPr lvl="1">
              <a:lnSpc>
                <a:spcPts val="19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1800" b="1" dirty="0"/>
              <a:t>Deployment:</a:t>
            </a:r>
            <a:r>
              <a:rPr lang="en-IN" sz="1800" dirty="0"/>
              <a:t> Vercel or Netlify REST APIs.</a:t>
            </a:r>
          </a:p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2000" b="1" dirty="0"/>
              <a:t>Core Algorithms:</a:t>
            </a:r>
          </a:p>
          <a:p>
            <a:pPr lvl="1">
              <a:lnSpc>
                <a:spcPts val="19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800" b="1" dirty="0"/>
              <a:t>Agentic orchestration (ReAct-style)</a:t>
            </a:r>
            <a:r>
              <a:rPr lang="en-IN" sz="1800" dirty="0"/>
              <a:t> loop to plan and decompose the prompt.</a:t>
            </a:r>
          </a:p>
          <a:p>
            <a:pPr lvl="1">
              <a:lnSpc>
                <a:spcPts val="19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800" b="1" dirty="0"/>
              <a:t>Retrieval-augmented code generation</a:t>
            </a:r>
            <a:r>
              <a:rPr lang="en-IN" sz="1800" dirty="0"/>
              <a:t> for schema and component synthesis.</a:t>
            </a:r>
          </a:p>
          <a:p>
            <a:pPr lvl="1">
              <a:lnSpc>
                <a:spcPts val="19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800" b="1" dirty="0"/>
              <a:t>Self-correction / error-feedback loop</a:t>
            </a:r>
            <a:r>
              <a:rPr lang="en-IN" sz="1800" dirty="0"/>
              <a:t> that patches broken code from logs.</a:t>
            </a:r>
          </a:p>
          <a:p>
            <a:pPr lvl="1">
              <a:lnSpc>
                <a:spcPts val="1900"/>
              </a:lnSpc>
              <a:spcBef>
                <a:spcPts val="0"/>
              </a:spcBef>
            </a:pPr>
            <a:r>
              <a:rPr lang="en-IN" sz="1800" b="1" dirty="0"/>
              <a:t>Constraint-based schema validation</a:t>
            </a:r>
            <a:r>
              <a:rPr lang="en-IN" sz="1800" dirty="0"/>
              <a:t> for per-user data isolation.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E3978-C502-4F84-84D4-48C27758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A2F3D-E2B2-4822-BFC9-C0BE9A1E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65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FE2F-917E-484C-B03D-44087EA1F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 &amp;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F28F-9A0F-4031-9427-BF9D1A93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30"/>
            <a:ext cx="7206673" cy="5127620"/>
          </a:xfrm>
        </p:spPr>
        <p:txBody>
          <a:bodyPr>
            <a:normAutofit/>
          </a:bodyPr>
          <a:lstStyle/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500"/>
              </a:spcAft>
            </a:pPr>
            <a:r>
              <a:rPr lang="en-IN" sz="2000" b="1" dirty="0"/>
              <a:t>Feasibility: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800" dirty="0"/>
              <a:t>Highly feasible for a small team — </a:t>
            </a:r>
            <a:r>
              <a:rPr lang="en-US" sz="1800" b="1" dirty="0"/>
              <a:t>no GPUs or server farms</a:t>
            </a:r>
            <a:r>
              <a:rPr lang="en-US" sz="1800" dirty="0"/>
              <a:t> to manage. Relies entirely on orchestrating </a:t>
            </a:r>
            <a:r>
              <a:rPr lang="en-US" sz="1800" b="1" dirty="0"/>
              <a:t>pay-per-use third-party APIs</a:t>
            </a:r>
            <a:r>
              <a:rPr lang="en-US" sz="1800" dirty="0"/>
              <a:t> and offloads compute to the user's local machine.</a:t>
            </a:r>
          </a:p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500"/>
              </a:spcAft>
            </a:pPr>
            <a:r>
              <a:rPr lang="en-IN" sz="2000" b="1" dirty="0"/>
              <a:t>Potential Challenges: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800" dirty="0"/>
              <a:t>Hitting </a:t>
            </a:r>
            <a:r>
              <a:rPr lang="en-US" sz="1800" b="1" dirty="0"/>
              <a:t>provider limits</a:t>
            </a:r>
            <a:r>
              <a:rPr lang="en-US" sz="1800" dirty="0"/>
              <a:t> as thousands of users create websites.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800" b="1" dirty="0"/>
              <a:t>Database cross-contamination</a:t>
            </a:r>
            <a:r>
              <a:rPr lang="en-US" sz="1800" dirty="0"/>
              <a:t> if all users share one database.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1400"/>
              </a:spcAft>
            </a:pPr>
            <a:r>
              <a:rPr lang="en-US" sz="1800" dirty="0"/>
              <a:t>AI </a:t>
            </a:r>
            <a:r>
              <a:rPr lang="en-US" sz="1800" b="1" dirty="0"/>
              <a:t>hallucinating or writing broken code.</a:t>
            </a:r>
          </a:p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2000" b="1" dirty="0"/>
              <a:t>Mitigation Strategies: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800" b="1" dirty="0"/>
              <a:t>"Project-per-User" architecture.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800" dirty="0"/>
              <a:t>An </a:t>
            </a:r>
            <a:r>
              <a:rPr lang="en-US" sz="1800" b="1" dirty="0"/>
              <a:t>agentic self-correction loop</a:t>
            </a:r>
            <a:r>
              <a:rPr lang="en-US" sz="1800" dirty="0"/>
              <a:t> runs on error logs before showing the preview.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D2C01-ACF1-40DC-A21C-465535C2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BD8CC-F585-407F-B9B8-4E553C70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50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D787-66EA-44BE-BA01-61E340E70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4E6E-E33F-4AE7-8621-E8F52E06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37" y="1098753"/>
            <a:ext cx="7259782" cy="5037927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3200" b="1" dirty="0"/>
              <a:t>Target Audience:</a:t>
            </a:r>
          </a:p>
          <a:p>
            <a:pPr lvl="1" algn="just">
              <a:spcAft>
                <a:spcPts val="1400"/>
              </a:spcAft>
            </a:pPr>
            <a:r>
              <a:rPr lang="en-IN" sz="2600" dirty="0"/>
              <a:t>Non-technical entrepreneurs, independent creators, and local small businesses (restaurants, real estate agents, gyms)</a:t>
            </a:r>
            <a:r>
              <a:rPr lang="en-IN" sz="2300" dirty="0"/>
              <a:t>.</a:t>
            </a:r>
          </a:p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3200" b="1" dirty="0"/>
              <a:t>Benefits:</a:t>
            </a:r>
          </a:p>
          <a:p>
            <a:pPr lvl="1" algn="just">
              <a:spcAft>
                <a:spcPts val="300"/>
              </a:spcAft>
            </a:pPr>
            <a:r>
              <a:rPr lang="en-IN" sz="2600" dirty="0"/>
              <a:t>Drastically </a:t>
            </a:r>
            <a:r>
              <a:rPr lang="en-IN" sz="2600" b="1" dirty="0"/>
              <a:t>reduces the barrier to entry</a:t>
            </a:r>
            <a:r>
              <a:rPr lang="en-IN" sz="2600" dirty="0"/>
              <a:t> for launching a digital business.</a:t>
            </a:r>
          </a:p>
          <a:p>
            <a:pPr lvl="1" algn="just">
              <a:spcAft>
                <a:spcPts val="300"/>
              </a:spcAft>
            </a:pPr>
            <a:r>
              <a:rPr lang="en-IN" sz="2600" dirty="0"/>
              <a:t>Turns a </a:t>
            </a:r>
            <a:r>
              <a:rPr lang="en-IN" sz="2600" b="1" dirty="0"/>
              <a:t>multi-thousand-dollar process</a:t>
            </a:r>
            <a:r>
              <a:rPr lang="en-IN" sz="2600" dirty="0"/>
              <a:t> into an instant, low-cost subscription.</a:t>
            </a:r>
          </a:p>
          <a:p>
            <a:pPr lvl="1" algn="just">
              <a:spcAft>
                <a:spcPts val="1400"/>
              </a:spcAft>
            </a:pPr>
            <a:r>
              <a:rPr lang="en-IN" sz="2600" dirty="0"/>
              <a:t>Provides </a:t>
            </a:r>
            <a:r>
              <a:rPr lang="en-IN" sz="2600" b="1" dirty="0"/>
              <a:t>highly customized software</a:t>
            </a:r>
            <a:r>
              <a:rPr lang="en-IN" sz="2600" dirty="0"/>
              <a:t> rather than rigid template constraints</a:t>
            </a:r>
            <a:r>
              <a:rPr lang="en-IN" dirty="0"/>
              <a:t>.</a:t>
            </a:r>
          </a:p>
          <a:p>
            <a:pPr algn="just">
              <a:lnSpc>
                <a:spcPts val="24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sz="3200" b="1" dirty="0"/>
              <a:t>Social &amp; Educational Impact:</a:t>
            </a:r>
          </a:p>
          <a:p>
            <a:pPr lvl="1" algn="just"/>
            <a:r>
              <a:rPr lang="en-IN" sz="2600" dirty="0"/>
              <a:t>Democratizes </a:t>
            </a:r>
            <a:r>
              <a:rPr lang="en-IN" sz="2600" b="1" dirty="0"/>
              <a:t>software engineering</a:t>
            </a:r>
            <a:r>
              <a:rPr lang="en-IN" sz="2600" dirty="0"/>
              <a:t> — anyone with an idea can create functional, production-ready technology regardless of coding background or financial status.</a:t>
            </a:r>
          </a:p>
        </p:txBody>
      </p:sp>
      <p:pic>
        <p:nvPicPr>
          <p:cNvPr id="8" name="Audience Impact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456" y="879083"/>
            <a:ext cx="4279487" cy="50379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BB0A5-29AF-4E20-8534-C3EFB60F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96CC2-36D8-486E-B072-77D61E32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45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3687-9339-1286-DF35-EA2221D2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19FFB-9D5A-3170-0E49-F9C7C00F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D4A84-5846-2886-B857-5E4E018A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5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B386-ECE9-44F7-990B-A3788E69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CD2C9-1DA3-473E-B8CD-3C5E765F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>
            <a:normAutofit/>
          </a:bodyPr>
          <a:lstStyle/>
          <a:p>
            <a:pPr marL="0" indent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F6FED"/>
                </a:solidFill>
              </a:rPr>
              <a:t>01	</a:t>
            </a:r>
            <a:r>
              <a:rPr lang="en-US" sz="1800" b="1" dirty="0">
                <a:solidFill>
                  <a:srgbClr val="12233F"/>
                </a:solidFill>
              </a:rPr>
              <a:t>LLM API Prompting &amp; Agentic Workflows</a:t>
            </a:r>
            <a:r>
              <a:rPr lang="en-US" sz="1600" dirty="0">
                <a:solidFill>
                  <a:srgbClr val="41506B"/>
                </a:solidFill>
              </a:rPr>
              <a:t> — </a:t>
            </a:r>
            <a:r>
              <a:rPr lang="en-US" sz="1600" u="sng" dirty="0">
                <a:solidFill>
                  <a:srgbClr val="2F6FED"/>
                </a:solidFill>
                <a:hlinkClick r:id="rId2"/>
              </a:rPr>
              <a:t>Anthropic</a:t>
            </a:r>
            <a:r>
              <a:rPr lang="en-US" sz="1600" dirty="0">
                <a:solidFill>
                  <a:srgbClr val="41506B"/>
                </a:solidFill>
              </a:rPr>
              <a:t> / OpenAI documentation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00C2A8"/>
                </a:solidFill>
              </a:rPr>
              <a:t>02	</a:t>
            </a:r>
            <a:r>
              <a:rPr lang="en-US" sz="1800" b="1" dirty="0">
                <a:solidFill>
                  <a:srgbClr val="12233F"/>
                </a:solidFill>
              </a:rPr>
              <a:t>StackBlitz </a:t>
            </a:r>
            <a:r>
              <a:rPr lang="en-US" sz="1600" u="sng" dirty="0">
                <a:solidFill>
                  <a:srgbClr val="2F6FED"/>
                </a:solidFill>
                <a:hlinkClick r:id="rId3"/>
              </a:rPr>
              <a:t>WebContainers</a:t>
            </a:r>
            <a:r>
              <a:rPr lang="en-US" sz="1600" dirty="0">
                <a:solidFill>
                  <a:srgbClr val="41506B"/>
                </a:solidFill>
              </a:rPr>
              <a:t> architecture &amp; browser-based execution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2F6FED"/>
                </a:solidFill>
              </a:rPr>
              <a:t>03	</a:t>
            </a:r>
            <a:r>
              <a:rPr lang="en-US" sz="1600" u="sng" dirty="0">
                <a:solidFill>
                  <a:srgbClr val="2F6FED"/>
                </a:solidFill>
                <a:hlinkClick r:id="rId4"/>
              </a:rPr>
              <a:t>Neon</a:t>
            </a:r>
            <a:r>
              <a:rPr lang="en-US" sz="1800" b="1" dirty="0">
                <a:solidFill>
                  <a:srgbClr val="12233F"/>
                </a:solidFill>
              </a:rPr>
              <a:t> Serverless PostgreSQL</a:t>
            </a:r>
            <a:r>
              <a:rPr lang="en-US" sz="1600" dirty="0">
                <a:solidFill>
                  <a:srgbClr val="41506B"/>
                </a:solidFill>
              </a:rPr>
              <a:t> — API docs for programmatic database provisioning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C2A8"/>
                </a:solidFill>
              </a:rPr>
              <a:t>04	</a:t>
            </a:r>
            <a:r>
              <a:rPr lang="en-US" sz="1600" u="sng" dirty="0">
                <a:solidFill>
                  <a:srgbClr val="2F6FED"/>
                </a:solidFill>
                <a:hlinkClick r:id="rId5"/>
              </a:rPr>
              <a:t>Vercel</a:t>
            </a:r>
            <a:r>
              <a:rPr lang="en-US" sz="1800" b="1" dirty="0">
                <a:solidFill>
                  <a:srgbClr val="12233F"/>
                </a:solidFill>
              </a:rPr>
              <a:t> Deployment API</a:t>
            </a:r>
            <a:r>
              <a:rPr lang="en-US" sz="1600" dirty="0">
                <a:solidFill>
                  <a:srgbClr val="41506B"/>
                </a:solidFill>
              </a:rPr>
              <a:t> — integration guidelines</a:t>
            </a:r>
          </a:p>
        </p:txBody>
      </p:sp>
      <p:sp>
        <p:nvSpPr>
          <p:cNvPr id="10" name="Chip1"/>
          <p:cNvSpPr/>
          <p:nvPr/>
        </p:nvSpPr>
        <p:spPr>
          <a:xfrm>
            <a:off x="838200" y="5486400"/>
            <a:ext cx="2495200" cy="731520"/>
          </a:xfrm>
          <a:prstGeom prst="roundRect">
            <a:avLst>
              <a:gd name="adj" fmla="val 12000"/>
            </a:avLst>
          </a:prstGeom>
          <a:solidFill>
            <a:srgbClr val="12233F"/>
          </a:solidFill>
          <a:ln>
            <a:noFill/>
          </a:ln>
        </p:spPr>
        <p:txBody>
          <a:bodyPr lIns="45720" r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Agentic AI Reasoning</a:t>
            </a:r>
          </a:p>
        </p:txBody>
      </p:sp>
      <p:sp>
        <p:nvSpPr>
          <p:cNvPr id="11" name="Chip2"/>
          <p:cNvSpPr/>
          <p:nvPr/>
        </p:nvSpPr>
        <p:spPr>
          <a:xfrm>
            <a:off x="3479800" y="5486400"/>
            <a:ext cx="2495200" cy="73152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>
            <a:noFill/>
          </a:ln>
        </p:spPr>
        <p:txBody>
          <a:bodyPr lIns="45720" rIns="45720" anchor="ctr"/>
          <a:lstStyle/>
          <a:p>
            <a:pPr algn="ctr"/>
            <a:r>
              <a:rPr lang="en-US" sz="1200" b="1" dirty="0">
                <a:solidFill>
                  <a:srgbClr val="12233F"/>
                </a:solidFill>
              </a:rPr>
              <a:t>Browser Execution</a:t>
            </a:r>
          </a:p>
        </p:txBody>
      </p:sp>
      <p:sp>
        <p:nvSpPr>
          <p:cNvPr id="12" name="Chip3"/>
          <p:cNvSpPr/>
          <p:nvPr/>
        </p:nvSpPr>
        <p:spPr>
          <a:xfrm>
            <a:off x="6121400" y="5486400"/>
            <a:ext cx="2495200" cy="731520"/>
          </a:xfrm>
          <a:prstGeom prst="roundRect">
            <a:avLst>
              <a:gd name="adj" fmla="val 12000"/>
            </a:avLst>
          </a:prstGeom>
          <a:solidFill>
            <a:srgbClr val="2F6FED"/>
          </a:solidFill>
          <a:ln>
            <a:noFill/>
          </a:ln>
        </p:spPr>
        <p:txBody>
          <a:bodyPr lIns="45720" r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Serverless Database</a:t>
            </a:r>
          </a:p>
        </p:txBody>
      </p:sp>
      <p:sp>
        <p:nvSpPr>
          <p:cNvPr id="13" name="Chip4"/>
          <p:cNvSpPr/>
          <p:nvPr/>
        </p:nvSpPr>
        <p:spPr>
          <a:xfrm>
            <a:off x="8763000" y="5486400"/>
            <a:ext cx="2495200" cy="731520"/>
          </a:xfrm>
          <a:prstGeom prst="roundRect">
            <a:avLst>
              <a:gd name="adj" fmla="val 12000"/>
            </a:avLst>
          </a:prstGeom>
          <a:solidFill>
            <a:srgbClr val="41506B"/>
          </a:solidFill>
          <a:ln>
            <a:noFill/>
          </a:ln>
        </p:spPr>
        <p:txBody>
          <a:bodyPr lIns="45720" r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Instant Global Deploy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FF98F-B10F-4E62-9641-76F2DB60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Major Project Topic Approval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9D44E-8015-439B-9485-B161B669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11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501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Problems &amp; Proposed Solution</vt:lpstr>
      <vt:lpstr>Technical Approach</vt:lpstr>
      <vt:lpstr>Feasibility &amp; Viability</vt:lpstr>
      <vt:lpstr>Impact &amp; Benefits</vt:lpstr>
      <vt:lpstr>Thank you!</vt:lpstr>
      <vt:lpstr>Research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 Ansari</dc:creator>
  <cp:lastModifiedBy>SHAUNAK DAS</cp:lastModifiedBy>
  <cp:revision>51</cp:revision>
  <dcterms:created xsi:type="dcterms:W3CDTF">2026-01-11T10:28:42Z</dcterms:created>
  <dcterms:modified xsi:type="dcterms:W3CDTF">2026-07-16T09:28:39Z</dcterms:modified>
</cp:coreProperties>
</file>